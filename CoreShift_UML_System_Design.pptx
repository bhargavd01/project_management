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1. UML Use Case Diagram — CoreShift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3282D"/>
                </a:solidFill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232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Customer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232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Bank Staff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232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93775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System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23444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View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92024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Make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60604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Check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33756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Manage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02336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Process End-of-Day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70916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View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394960"/>
            <a:ext cx="192024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Monitor Migration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37160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Calculate Interest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14884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Calculate Penalties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92608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Reconcile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70332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Run Parallel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48056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Initiate Rollback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257800"/>
            <a:ext cx="2240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View Audit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960120"/>
            <a:ext cx="3200400" cy="5394960"/>
          </a:xfrm>
          <a:prstGeom prst="rect">
            <a:avLst/>
          </a:prstGeom>
          <a:noFill/>
          <a:ln w="1651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A5F"/>
                </a:solidFill>
              </a:defRPr>
            </a:pPr>
            <a:r>
              <a:t>CoreShift System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1481328"/>
            <a:ext cx="548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0160" y="2167128"/>
            <a:ext cx="548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2852928"/>
            <a:ext cx="548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80160" y="3584448"/>
            <a:ext cx="548640" cy="941832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80160" y="4270248"/>
            <a:ext cx="548640" cy="256032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0160" y="4526280"/>
            <a:ext cx="548640" cy="429768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80160" y="4526280"/>
            <a:ext cx="548640" cy="1115568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49039" y="161848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49039" y="239572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749039" y="317296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49039" y="395020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49039" y="472744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49039" y="5504688"/>
            <a:ext cx="2743201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49039" y="1618488"/>
            <a:ext cx="2743201" cy="54864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49039" y="2167128"/>
            <a:ext cx="2743201" cy="2286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49039" y="2167128"/>
            <a:ext cx="2743201" cy="100584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49039" y="3950208"/>
            <a:ext cx="2743201" cy="100584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2. UML Class Diagram — Core Banking 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2743200" cy="141732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74320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1" y="1481328"/>
            <a:ext cx="25968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- customerId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name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contactDetails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getDetails()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updateDetails()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960120"/>
            <a:ext cx="2834640" cy="141732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931920" y="960120"/>
            <a:ext cx="283464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344168"/>
            <a:ext cx="26883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- accountId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customerId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productType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balance : BigDecimal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status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getBalance()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updateBalance()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getProductRules()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2743200" cy="141732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274320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4041648"/>
            <a:ext cx="25968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- transactionId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accountId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type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amount : BigDecimal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valueDate : Date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status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process()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validate()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886200"/>
            <a:ext cx="2834640" cy="141732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931920" y="3886200"/>
            <a:ext cx="283464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ProductType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4270248"/>
            <a:ext cx="26883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- productTypeId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name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- rules : String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getRules()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143000"/>
            <a:ext cx="3017520" cy="14173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406640" y="1143000"/>
            <a:ext cx="301752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InterestCalculator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527048"/>
            <a:ext cx="28712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+ calculateInterest()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applyRules()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423160"/>
            <a:ext cx="3017520" cy="1417320"/>
          </a:xfrm>
          <a:prstGeom prst="roundRect">
            <a:avLst/>
          </a:prstGeom>
          <a:solidFill>
            <a:srgbClr val="FADCDC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406640" y="2423160"/>
            <a:ext cx="301752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PenaltyCalculator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807208"/>
            <a:ext cx="28712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+ calculatePenalty()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applyRules()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703320"/>
            <a:ext cx="3017520" cy="141732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3282D"/>
                </a:solidFill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7406640" y="3703320"/>
            <a:ext cx="3017520" cy="347472"/>
          </a:xfrm>
          <a:prstGeom prst="rect">
            <a:avLst/>
          </a:prstGeom>
          <a:solidFill>
            <a:srgbClr val="143A5F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ReconciliationEngine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087368"/>
            <a:ext cx="28712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82D"/>
                </a:solidFill>
              </a:defRPr>
            </a:pPr>
            <a:r>
              <a:t>+ compareOutputs()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flagDifference()</a:t>
            </a:r>
          </a:p>
          <a:p>
            <a:pPr>
              <a:defRPr sz="900">
                <a:solidFill>
                  <a:srgbClr val="23282D"/>
                </a:solidFill>
              </a:defRPr>
            </a:pPr>
            <a:r>
              <a:t>+ generateReport()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0" y="1645920"/>
            <a:ext cx="548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49240" y="2377440"/>
            <a:ext cx="0" cy="150876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4251960"/>
            <a:ext cx="548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66560" y="4389120"/>
            <a:ext cx="64008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66560" y="1737360"/>
            <a:ext cx="64008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2377440"/>
            <a:ext cx="640080" cy="50292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3. UML Sequence Diagram — Transaction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9844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40280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API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9864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Modern Banking 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9028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89320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Legacy Adapter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4768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26679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COBOL 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8504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914400"/>
            <a:ext cx="1325880" cy="50292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Database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96728" y="1417320"/>
            <a:ext cx="0" cy="457200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98448" y="1828800"/>
            <a:ext cx="160020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23060" y="157276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Initiate transaction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8648" y="2423160"/>
            <a:ext cx="16916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68980" y="21671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Validate request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90288" y="3017520"/>
            <a:ext cx="205740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43500" y="2761487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Check product rules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47688" y="3611880"/>
            <a:ext cx="173736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40880" y="33558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Call legacy if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5048" y="4206240"/>
            <a:ext cx="201168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15400" y="3950207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Read/update legacy data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590288" y="4800600"/>
            <a:ext cx="379476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2180" y="454456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Return result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90288" y="5394960"/>
            <a:ext cx="58064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18020" y="51389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Update modern record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298448" y="5989320"/>
            <a:ext cx="329184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7332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/>
            </a:pPr>
            <a:r>
              <a:t>Send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4. UML Activity Diagram — Reengineering &amp; Migration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822960"/>
            <a:ext cx="822960" cy="41148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2743200" cy="50292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Reverse Engineer COBOL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94560"/>
            <a:ext cx="3291840" cy="50292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Recover Requirements + Expert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926080"/>
            <a:ext cx="2743200" cy="50292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Design Target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2743200" cy="502920"/>
          </a:xfrm>
          <a:prstGeom prst="roundRect">
            <a:avLst/>
          </a:prstGeom>
          <a:solidFill>
            <a:srgbClr val="FADCDC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Build + Test Modern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389120"/>
            <a:ext cx="329184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Migrate Data / Integrate Adapter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120640"/>
            <a:ext cx="3291840" cy="50292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Parallel Run + Reconciliation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23444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196596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69748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342900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416052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4892040"/>
            <a:ext cx="0" cy="22860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4983480" y="5806440"/>
            <a:ext cx="1920240" cy="731520"/>
          </a:xfrm>
          <a:prstGeom prst="diamond">
            <a:avLst/>
          </a:prstGeom>
          <a:solidFill>
            <a:srgbClr val="FFEBC8"/>
          </a:solidFill>
          <a:ln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Outputs match?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870448"/>
            <a:ext cx="2103120" cy="457200"/>
          </a:xfrm>
          <a:prstGeom prst="roundRect">
            <a:avLst/>
          </a:prstGeom>
          <a:solidFill>
            <a:srgbClr val="FADCDC"/>
          </a:solidFill>
          <a:ln w="19050"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Investigate / Fix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903720" y="6099048"/>
            <a:ext cx="594359" cy="73152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0" y="5870448"/>
            <a:ext cx="1828800" cy="45720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Controlled Cutover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4572000" y="6099048"/>
            <a:ext cx="411480" cy="73152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5. System Design — Target Architecture (Strangler-Fig Migration)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1920" y="777240"/>
            <a:ext cx="4297680" cy="50292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Customers / Bank Staff /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554480"/>
            <a:ext cx="4297680" cy="502920"/>
          </a:xfrm>
          <a:prstGeom prst="roundRect">
            <a:avLst/>
          </a:prstGeom>
          <a:solidFill>
            <a:srgbClr val="FADCDC"/>
          </a:solidFill>
          <a:ln w="19050">
            <a:solidFill>
              <a:srgbClr val="BE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API Gateway /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828800" cy="59436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Account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468880"/>
            <a:ext cx="1828800" cy="59436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Transaction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468880"/>
            <a:ext cx="1828800" cy="59436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Interest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468880"/>
            <a:ext cx="1828800" cy="59436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Penalty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468880"/>
            <a:ext cx="1828800" cy="59436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Product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474720"/>
            <a:ext cx="6400800" cy="54864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Core Banking Rules / Business Logic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343400"/>
            <a:ext cx="6400800" cy="54864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Modern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486400"/>
            <a:ext cx="640080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82D"/>
                </a:solidFill>
              </a:defRPr>
            </a:pPr>
            <a:r>
              <a:t>Reconciliation Engine + Monitoring /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965960"/>
            <a:ext cx="1920240" cy="548640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Legacy Adapter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063240"/>
            <a:ext cx="1920240" cy="77724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COBOL Core</a:t>
            </a:r>
            <a:br/>
            <a:r>
              <a:t>1.2M LOC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4389120"/>
            <a:ext cx="1920240" cy="64008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Legacy 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280160"/>
            <a:ext cx="0" cy="27432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057400"/>
            <a:ext cx="0" cy="41148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063240"/>
            <a:ext cx="0" cy="41148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023360"/>
            <a:ext cx="0" cy="32004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4892040"/>
            <a:ext cx="0" cy="59436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144000" y="2240280"/>
            <a:ext cx="502920" cy="50292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2514600"/>
            <a:ext cx="0" cy="54864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7040" y="3840480"/>
            <a:ext cx="0" cy="54864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144000" y="3749039"/>
            <a:ext cx="502920" cy="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6. UML Deployment Diagram — Parallel-Run Period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2743200" cy="548640"/>
          </a:xfrm>
          <a:prstGeom prst="roundRect">
            <a:avLst/>
          </a:prstGeom>
          <a:solidFill>
            <a:srgbClr val="E1F0FC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Users / Bank Branches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914400"/>
            <a:ext cx="2743200" cy="54864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Load Balancer / Router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1188720"/>
            <a:ext cx="1417320" cy="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965960"/>
            <a:ext cx="4572000" cy="3474720"/>
          </a:xfrm>
          <a:prstGeom prst="roundRect">
            <a:avLst/>
          </a:prstGeom>
          <a:solidFill>
            <a:srgbClr val="DCF4E4"/>
          </a:solidFill>
          <a:ln w="19050">
            <a:solidFill>
              <a:srgbClr val="46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3282D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3A5F"/>
                </a:solidFill>
              </a:defRPr>
            </a:pPr>
            <a:r>
              <a:t>Modern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74320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Web / API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52044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Modern Banking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29768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Modern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4572000" cy="3474720"/>
          </a:xfrm>
          <a:prstGeom prst="roundRect">
            <a:avLst/>
          </a:prstGeom>
          <a:solidFill>
            <a:srgbClr val="E8E0FA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3282D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3A5F"/>
                </a:solidFill>
              </a:defRPr>
            </a:pPr>
            <a:r>
              <a:t>Legacy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74320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COBOL Application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52044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Legacy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9768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Legacy Adapter / Interface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1463040"/>
            <a:ext cx="2880360" cy="50292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1463040"/>
            <a:ext cx="2606040" cy="502920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5806440"/>
            <a:ext cx="5669280" cy="50292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82D"/>
                </a:solidFill>
              </a:defRPr>
            </a:pPr>
            <a:r>
              <a:t>Parallel Run: compare modern vs legacy outputs for every account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5440680"/>
            <a:ext cx="1188720" cy="36576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863840" y="5440680"/>
            <a:ext cx="822960" cy="365760"/>
          </a:xfrm>
          <a:prstGeom prst="line">
            <a:avLst/>
          </a:prstGeom>
          <a:ln w="15240">
            <a:solidFill>
              <a:srgbClr val="2328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A5F"/>
                </a:solidFill>
              </a:defRPr>
            </a:pPr>
            <a:r>
              <a:t>7. System Design — Strangler-Fig Migration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868680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Reverse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868680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Analyse COBOL, data structures and EOD logic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435607"/>
            <a:ext cx="0" cy="219457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18488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618488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Requirements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18488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Interview 4 experts; capture undocumented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2185416"/>
            <a:ext cx="0" cy="219456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368296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368296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Target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68296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Implement modern services and exact financial 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2935224"/>
            <a:ext cx="0" cy="219455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118103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118103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Legacy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118103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Use adapter while legacy remains authoritative where needed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3685031"/>
            <a:ext cx="0" cy="219456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867911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867911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Parallel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867911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Compare 900,000 accounts; Product Type 14 = 30/30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4434840"/>
            <a:ext cx="0" cy="219456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617720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617720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Gradual Shift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4617720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Move capabilities/product types incrementally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" y="5184648"/>
            <a:ext cx="0" cy="219456"/>
          </a:xfrm>
          <a:prstGeom prst="line">
            <a:avLst/>
          </a:prstGeom>
          <a:ln w="15240">
            <a:solidFill>
              <a:srgbClr val="23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" y="5367528"/>
            <a:ext cx="640080" cy="566928"/>
          </a:xfrm>
          <a:prstGeom prst="roundRect">
            <a:avLst/>
          </a:prstGeom>
          <a:solidFill>
            <a:srgbClr val="143A5F"/>
          </a:solidFill>
          <a:ln w="19050">
            <a:solidFill>
              <a:srgbClr val="14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367528"/>
            <a:ext cx="2834640" cy="566928"/>
          </a:xfrm>
          <a:prstGeom prst="roundRect">
            <a:avLst/>
          </a:prstGeom>
          <a:solidFill>
            <a:srgbClr val="4B82BE"/>
          </a:solidFill>
          <a:ln w="19050">
            <a:solidFill>
              <a:srgbClr val="E1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82D"/>
                </a:solidFill>
              </a:defRPr>
            </a:pPr>
            <a:r>
              <a:t>Full Cutover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5367528"/>
            <a:ext cx="6949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82D"/>
                </a:solidFill>
              </a:defRPr>
            </a:pPr>
            <a:r>
              <a:t>Switch only after reconciliation and go/no-go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263640"/>
            <a:ext cx="10789920" cy="365760"/>
          </a:xfrm>
          <a:prstGeom prst="roundRect">
            <a:avLst/>
          </a:prstGeom>
          <a:solidFill>
            <a:srgbClr val="FFEBC8"/>
          </a:solidFill>
          <a:ln w="19050">
            <a:solidFill>
              <a:srgbClr val="D2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3282D"/>
                </a:solidFill>
              </a:defRPr>
            </a:pPr>
            <a:r>
              <a:t>Key principles: no big-bang cutover • zero unexplained monetary divergence • auditability • monitoring • rollback capability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96E"/>
                </a:solidFill>
              </a:defRPr>
            </a:pPr>
            <a:r>
              <a:t>CoreShift — Case Study No. 13 | Proposed design for academic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